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4"/>
  </p:notesMasterIdLst>
  <p:sldIdLst>
    <p:sldId id="256" r:id="rId1"/>
    <p:sldId id="257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5" Type="http://schemas.openxmlformats.org/officeDocument/2006/relationships/presProps" Target="presProps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6" Type="http://schemas.openxmlformats.org/officeDocument/2006/relationships/tableStyles" Target="tableStyles.xml" /><Relationship Id="rId3" Type="http://schemas.openxmlformats.org/officeDocument/2006/relationships/slide" Target="slides/slide3.xml" /><Relationship Id="rId7" Type="http://schemas.openxmlformats.org/officeDocument/2006/relationships/viewProps" Target="viewProps.xml" /><Relationship Id="rId4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&#10;    width: '1280px',&#10;    height: '720px',&#10;    background: '#0C0E14',&#10;    padding: '0px 67px',&#10;    fontFamily: 'Microsoft YaHei',&#10;    position: 'relative',&#10;    display: 'flex',&#10;    flexDirection: 'column',&#10;}}&gt;&#10;    &lt;Box style={{ position: 'absolute', top: -70, right: -50, width: 420, height: 420, borderRadius: '50%', background: '#22D3EE', opacity: 0.06 }} /&gt;&#10;&#10;    &lt;Box style={{ marginTop: 38, position: 'relative', zIndex: 1 }}&gt;&#10;        &lt;Text style={{ fontSize: 14, color: '#22D3EE', letterSpacing: 2 }}&gt;01 · 平台架构&lt;/Text&gt;&#10;    &lt;/Box&gt;&#10;    &lt;Box style={{ marginTop: 14, position: 'relative', zIndex: 1 }}&gt;&#10;        &lt;Text style={{ fontSize: 32, fontWeight: 'bold', color: '#E8EAED', lineHeight: 1.3 }}&gt;&#10;            四层架构：把「判断过程」本身放进系统&#10;        &lt;/Text&gt;&#10;    &lt;/Box&gt;&#10;    &lt;Box style={{ marginTop: 12, position: 'relative', zIndex: 1 }}&gt;&#10;        &lt;Text style={{ fontSize: 16, color: '#A8AEBE', lineHeight: 1.5 }}&gt;&#10;            普通平台管数据（增删改查），本平台管裁决（怎么做有依据的决策）—— 四层里 L2 是灵魂。&#10;        &lt;/Text&gt;&#10;    &lt;/Box&gt;&#10;    &lt;Box style={{ marginTop: 25, height: 1, width: '100%', background: '#2A3040', position: 'relative', zIndex: 1 }} /&gt;&#10;&#10;    &lt;Box style={{ marginTop: 20, flexDirection: 'row', gap: 26, height: 454, position: 'relative', zIndex: 1 }}&gt;&#10;&#10;        &lt;Box style={{ width: 640, flexDirection: 'column', gap: 12 }}&gt;&#10;            &lt;Box style={{&#10;                flex: 1, flexDirection: 'row', alignItems: 'stretch', gap: 16,&#10;                background: '#141922', border: '1px solid #2A3040', borderRadius: 12, padding: '14px 18px',&#10;            }}&gt;&#10;                &lt;Box style={{ width: 52, justifyContent: 'center', alignItems: 'center' }}&gt;&#10;                    &lt;Text style={{ fontSize: 20, fontWeight: 'bold', color: '#60667C' }}&gt;L3&lt;/Text&gt;&#10;                &lt;/Box&gt;&#10;                &lt;Box style={{ flex: 1, justifyContent: 'center', gap: 4 }}&gt;&#10;                    &lt;Text style={{ fontSize: 18, fontWeight: 'bold', color: '#E8EAED' }}&gt;应用与场景层　交付形态&lt;/Text&gt;&#10;                    &lt;Text style={{ fontSize: 14, color: '#A8AEBE', lineHeight: 1.5 }}&gt;&#10;                        免代码门户 + 场景组合：客户用受控声明组装页面与场景，不写代码、不改内核。&#10;                    &lt;/Text&gt;&#10;                &lt;/Box&gt;&#10;            &lt;/Box&gt;&#10;&#10;            &lt;Box style={{&#10;                flex: 1, flexDirection: 'row', alignItems: 'stretch', gap: 16,&#10;                background: '#1B2130', border: '1px solid #22D3EE', borderRadius: 12, padding: '14px 18px',&#10;            }}&gt;&#10;                &lt;Box style={{ width: 52, justifyContent: 'center', alignItems: 'center' }}&gt;&#10;                    &lt;Text style={{ fontSize: 22, fontWeight: 'bold', color: '#22D3EE' }}&gt;L2&lt;/Text&gt;&#10;                &lt;/Box&gt;&#10;                &lt;Box style={{ flex: 1, justifyContent: 'center', gap: 4 }}&gt;&#10;                    &lt;Text style={{ fontSize: 18, fontWeight: 'bold', color: '#22D3EE' }}&gt;决策智能内核　★ 最核心&lt;/Text&gt;&#10;                    &lt;Text style={{ fontSize: 14, color: '#A8AEBE', lineHeight: 1.5 }}&gt;&#10;                        知识 → 记忆 → 裁决 的单向证据管道：先有证据，再有上下文，最后才有可审计的裁决。&#10;                    &lt;/Text&gt;&#10;                &lt;/Box&gt;&#10;            &lt;/Box&gt;&#10;&#10;            &lt;Box style={{&#10;                flex: 1, flexDirection: 'row', alignItems: 'stretch', gap: 16,&#10;                background: '#141922', border: '1px solid #2A3040', borderRadius: 12, padding: '14px 18px',&#10;            }}&gt;&#10;                &lt;Box style={{ width: 52, justifyContent: 'center', alignItems: 'center' }}&gt;&#10;                    &lt;Text style={{ fontSize: 20, fontWeight: 'bold', color: '#60667C' }}&gt;L1&lt;/Text&gt;&#10;                &lt;/Box&gt;&#10;                &lt;Box style={{ flex: 1, justifyContent: 'center', gap: 4 }}&gt;&#10;                    &lt;Text style={{ fontSize: 18, fontWeight: 'bold', color: '#E8EAED' }}&gt;智能体团队　自进化引擎室&lt;/Text&gt;&#10;                    &lt;Text style={{ fontSize: 14, color: '#A8AEBE', lineHeight: 1.5 }}&gt;&#10;                        多智能体编排、复盘智能体、反馈闭环回接 —— 它们服务决策，不替代决策。&#10;                    &lt;/Text&gt;&#10;                &lt;/Box&gt;&#10;            &lt;/Box&gt;&#10;&#10;            &lt;Box style={{&#10;                flex: 1, flexDirection: 'row', alignItems: 'stretch', gap: 16,&#10;                background: '#141922', border: '1px solid #2A3040', borderRadius: 12, padding: '14px 18px',&#10;            }}&gt;&#10;                &lt;Box style={{ width: 52, justifyContent: 'center', alignItems: 'center' }}&gt;&#10;                    &lt;Text style={{ fontSize: 20, fontWeight: 'bold', color: '#60667C' }}&gt;L0&lt;/Text&gt;&#10;                &lt;/Box&gt;&#10;                &lt;Box style={{ flex: 1, justifyContent: 'center', gap: 4 }}&gt;&#10;                    &lt;Text style={{ fontSize: 18, fontWeight: 'bold', color: '#E8EAED' }}&gt;底座　可扩展性承诺&lt;/Text&gt;&#10;                    &lt;Text style={{ fontSize: 14, color: '#A8AEBE', lineHeight: 1.5 }}&gt;&#10;                        粒子契约、事件总线、审计链、统一存储（关系库 + 向量），领域取值全部由消费方注入。&#10;                    &lt;/Text&gt;&#10;                &lt;/Box&gt;&#10;            &lt;/Box&gt;&#10;        &lt;/Box&gt;&#10;&#10;        &lt;Box style={{&#10;            width: 480, background: '#141922', border: '1px solid #2A3040', borderRadius: 12,&#10;            padding: '18px 22px', flexDirection: 'column', alignItems: 'center',&#10;        }}&gt;&#10;            &lt;Text style={{ fontSize: 15, fontWeight: 'bold', color: '#22D3EE', letterSpacing: 1 }}&gt;&#10;                证据管道 · 单向 · 不可重排&#10;            &lt;/Text&gt;&#10;&#10;            &lt;Box style={{ width: '100%', height: 96, marginTop: 14, background: '#1B2130', borderRadius: 10, border: '1px solid #2A3040', padding: '12px 16px', justifyContent: 'center', gap: 4 }}&gt;&#10;                &lt;Text style={{ fontSize: 16, fontWeight: 'bold', color: '#E8EAED' }}&gt;知识 K&lt;/Text&gt;&#10;                &lt;Text style={{ fontSize: 14, color: '#A8AEBE', lineHeight: 1.5 }}&gt;&#10;                    写库即构建：本体与向量随数据自生长，知识不用人工另建一套。&#10;                &lt;/Text&gt;&#10;            &lt;/Box&gt;&#10;&#10;            &lt;svg width={24} height={26} viewBox='0 0 24 26'&gt;&#10;                &lt;path d='M12 0 L12 18' stroke='#22D3EE' strokeWidth='2' fill='none' /&gt;&#10;                &lt;polygon points='6,17 18,17 12,26' fill='#22D3EE' /&gt;&#10;            &lt;/svg&gt;&#10;&#10;            &lt;Box style={{ width: '100%', height: 96, background: '#1B2130', borderRadius: 10, border: '1px solid #2A3040', padding: '12px 16px', justifyContent: 'center', gap: 4 }}&gt;&#10;                &lt;Text style={{ fontSize: 16, fontWeight: 'bold', color: '#E8EAED' }}&gt;记忆 M&lt;/Text&gt;&#10;                &lt;Text style={{ fontSize: 14, color: '#A8AEBE', lineHeight: 1.5 }}&gt;&#10;                    双轨记忆：事件流留住过程，结论留住判断，随时可寻址、可溯源。&#10;                &lt;/Text&gt;&#10;            &lt;/Box&gt;&#10;&#10;            &lt;svg width={24} height={26} viewBox='0 0 24 26'&gt;&#10;                &lt;path d='M12 0 L12 18' stroke='#22D3EE' strokeWidth='2' fill='none' /&gt;&#10;                &lt;polygon points='6,17 18,17 12,26' fill='#22D3EE' /&gt;&#10;            &lt;/svg&gt;&#10;&#10;            &lt;Box style={{ width: '100%', height: 96, background: '#1B2130', borderRadius: 10, border: '1px solid #22D3EE', padding: '12px 16px', justifyContent: 'center', gap: 4 }}&gt;&#10;                &lt;Text style={{ fontSize: 16, fontWeight: 'bold', color: '#22D3EE' }}&gt;裁决 D&lt;/Text&gt;&#10;                &lt;Text style={{ fontSize: 14, color: '#A8AEBE', lineHeight: 1.5 }}&gt;&#10;                    证据齐备才放行：链末红线闸门把关，裁决带编号可回查、可复算。&#10;                &lt;/Text&gt;&#10;            &lt;/Box&gt;&#10;&#10;            &lt;Text style={{ marginTop: 'auto', fontSize: 14, color: '#60667C', lineHeight: 1.5, textAlign: 'center' }}&gt;&#10;                顺序是契约第一等公民 —— 不得以「性能优化」为由重排。&#10;            &lt;/Text&gt;&#10;        &lt;/Box&gt;&#10;    &lt;/Box&gt;&#10;&#10;    &lt;Box style={{ marginTop: 20, flexDirection: 'row', justifyContent: 'space-between', position: 'relative', zIndex: 1 }}&gt;&#10;        &lt;Text style={{ fontSize: 13, color: '#60667C' }}&gt;AI 原生决策智能平台 · 2026&lt;/Text&gt;&#10;        &lt;Text style={{ fontSize: 13, color: '#60667C' }}&gt;01 / 0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667750" y="-666750"/>
            <a:ext cx="4000500" cy="4000500"/>
          </a:xfrm>
          <a:custGeom>
            <a:pathLst>
              <a:path w="420" h="420">
                <a:moveTo>
                  <a:pt x="210" y="0"/>
                </a:moveTo>
                <a:lnTo>
                  <a:pt x="210" y="0"/>
                </a:lnTo>
                <a:cubicBezTo>
                  <a:pt x="326" y="0"/>
                  <a:pt x="420" y="94"/>
                  <a:pt x="420" y="210"/>
                </a:cubicBezTo>
                <a:lnTo>
                  <a:pt x="420" y="210"/>
                </a:lnTo>
                <a:cubicBezTo>
                  <a:pt x="420" y="326"/>
                  <a:pt x="326" y="420"/>
                  <a:pt x="210" y="420"/>
                </a:cubicBezTo>
                <a:lnTo>
                  <a:pt x="210" y="420"/>
                </a:lnTo>
                <a:cubicBezTo>
                  <a:pt x="94" y="420"/>
                  <a:pt x="0" y="326"/>
                  <a:pt x="0" y="210"/>
                </a:cubicBezTo>
                <a:lnTo>
                  <a:pt x="0" y="210"/>
                </a:lnTo>
                <a:cubicBezTo>
                  <a:pt x="0" y="94"/>
                  <a:pt x="94" y="0"/>
                  <a:pt x="210" y="0"/>
                </a:cubicBezTo>
                <a:close/>
              </a:path>
            </a:pathLst>
          </a:custGeom>
          <a:solidFill>
            <a:srgbClr val="22D3EE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38175" y="361950"/>
            <a:ext cx="1091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2D3EE"/>
                </a:solidFill>
                <a:latin typeface="Microsoft YaHei"/>
                <a:ea typeface="Microsoft YaHei"/>
              </a:rPr>
              <a:t>01 · </a:t>
            </a:r>
            <a:r>
              <a:rPr lang="zh-CN" sz="1050" spc="150">
                <a:solidFill>
                  <a:srgbClr val="22D3EE"/>
                </a:solidFill>
                <a:latin typeface="Microsoft YaHei"/>
                <a:ea typeface="Microsoft YaHei"/>
              </a:rPr>
              <a:t>平台架构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38175" y="657225"/>
            <a:ext cx="1091565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E8EAED"/>
                </a:solidFill>
                <a:latin typeface="Microsoft YaHei"/>
                <a:ea typeface="Microsoft YaHei"/>
              </a:rPr>
              <a:t>四层架构：把「判断过程」本身放进系统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38175" y="1247775"/>
            <a:ext cx="10915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A8AEBE"/>
                </a:solidFill>
                <a:latin typeface="Microsoft YaHei"/>
                <a:ea typeface="Microsoft YaHei"/>
              </a:rPr>
              <a:t>普通平台管数据（增删改查），本平台管裁决（怎么做有依据的决策）——</a:t>
            </a:r>
            <a:r>
              <a:rPr lang="en-US" sz="120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200">
                <a:solidFill>
                  <a:srgbClr val="A8AEBE"/>
                </a:solidFill>
                <a:latin typeface="Microsoft YaHei"/>
                <a:ea typeface="Microsoft YaHei"/>
              </a:rPr>
              <a:t>四层里</a:t>
            </a:r>
            <a:r>
              <a:rPr lang="en-US" sz="1200">
                <a:solidFill>
                  <a:srgbClr val="A8AEBE"/>
                </a:solidFill>
                <a:latin typeface="Microsoft YaHei"/>
                <a:ea typeface="Microsoft YaHei"/>
              </a:rPr>
              <a:t> L2 </a:t>
            </a:r>
            <a:r>
              <a:rPr lang="zh-CN" sz="1200">
                <a:solidFill>
                  <a:srgbClr val="A8AEBE"/>
                </a:solidFill>
                <a:latin typeface="Microsoft YaHei"/>
                <a:ea typeface="Microsoft YaHei"/>
              </a:rPr>
              <a:t>是灵魂。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38175" y="1762125"/>
            <a:ext cx="10915650" cy="9525"/>
          </a:xfrm>
          <a:prstGeom prst="rect">
            <a:avLst/>
          </a:prstGeom>
          <a:solidFill>
            <a:srgbClr val="2A3040"/>
          </a:solidFill>
          <a:ln/>
        </p:spPr>
        <p:txBody>
          <a:bodyPr/>
          <a:p/>
        </p:txBody>
      </p:sp>
      <p:sp>
        <p:nvSpPr>
          <p:cNvPr id="8" name=""/>
          <p:cNvSpPr/>
          <p:nvPr/>
        </p:nvSpPr>
        <p:spPr>
          <a:xfrm rot="0" flipH="0" flipV="0">
            <a:off x="638175" y="1962150"/>
            <a:ext cx="6096000" cy="876300"/>
          </a:xfrm>
          <a:prstGeom prst="roundRect">
            <a:avLst>
              <a:gd name="adj" fmla="val 13043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42975" y="2286000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0667C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457325" y="2152650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AED"/>
                </a:solidFill>
                <a:latin typeface="Microsoft YaHei"/>
                <a:ea typeface="Microsoft YaHei"/>
              </a:rPr>
              <a:t>应用与场景层　交付形态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457325" y="2400300"/>
            <a:ext cx="5105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免代码门户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场景组合：客户用受控声明组装页面与场景，不写代码、不改内核。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38175" y="2952750"/>
            <a:ext cx="6096000" cy="1114425"/>
          </a:xfrm>
          <a:prstGeom prst="roundRect">
            <a:avLst>
              <a:gd name="adj" fmla="val 10256"/>
            </a:avLst>
          </a:prstGeom>
          <a:solidFill>
            <a:srgbClr val="1B2130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33450" y="33813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22D3EE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457325" y="3143250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决策智能内核　★</a:t>
            </a:r>
            <a:r>
              <a:rPr lang="en-US" sz="1350" b="1">
                <a:solidFill>
                  <a:srgbClr val="22D3EE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22D3EE"/>
                </a:solidFill>
                <a:latin typeface="Microsoft YaHei"/>
                <a:ea typeface="Microsoft YaHei"/>
              </a:rPr>
              <a:t>最核心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457325" y="3390900"/>
            <a:ext cx="5105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知识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记忆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裁决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的单向证据管道：先有证据，再有上下文，最后才有可审计的裁决。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638175" y="4181475"/>
            <a:ext cx="6096000" cy="876300"/>
          </a:xfrm>
          <a:prstGeom prst="roundRect">
            <a:avLst>
              <a:gd name="adj" fmla="val 13043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42975" y="4505325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0667C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457325" y="4371975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AED"/>
                </a:solidFill>
                <a:latin typeface="Microsoft YaHei"/>
                <a:ea typeface="Microsoft YaHei"/>
              </a:rPr>
              <a:t>智能体团队　自进化引擎室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57325" y="4619625"/>
            <a:ext cx="5105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多智能体编排、复盘智能体、反馈闭环回接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它们服务决策，不替代决策。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38175" y="5172075"/>
            <a:ext cx="6096000" cy="1114425"/>
          </a:xfrm>
          <a:prstGeom prst="roundRect">
            <a:avLst>
              <a:gd name="adj" fmla="val 10256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42975" y="5619750"/>
            <a:ext cx="228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0667C"/>
                </a:solidFill>
                <a:latin typeface="Microsoft YaHei"/>
                <a:ea typeface="Microsoft YaHei"/>
              </a:rPr>
              <a:t>L0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457325" y="5362575"/>
            <a:ext cx="5105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AED"/>
                </a:solidFill>
                <a:latin typeface="Microsoft YaHei"/>
                <a:ea typeface="Microsoft YaHei"/>
              </a:rPr>
              <a:t>底座　可扩展性承诺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457325" y="5610225"/>
            <a:ext cx="51054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粒子契约、事件总线、审计链、统一存储（关系库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向量），领域取值全部由消费方注入。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981825" y="1962150"/>
            <a:ext cx="4572000" cy="4324350"/>
          </a:xfrm>
          <a:prstGeom prst="roundRect">
            <a:avLst>
              <a:gd name="adj" fmla="val 2643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324850" y="2133600"/>
            <a:ext cx="1885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证据管道</a:t>
            </a:r>
            <a:r>
              <a:rPr lang="en-US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单向</a:t>
            </a:r>
            <a:r>
              <a:rPr lang="en-US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 · </a:t>
            </a:r>
            <a:r>
              <a:rPr lang="zh-CN" sz="1125" b="1" spc="75">
                <a:solidFill>
                  <a:srgbClr val="22D3EE"/>
                </a:solidFill>
                <a:latin typeface="Microsoft YaHei"/>
                <a:ea typeface="Microsoft YaHei"/>
              </a:rPr>
              <a:t>不可重排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7191375" y="2438400"/>
            <a:ext cx="4152900" cy="914400"/>
          </a:xfrm>
          <a:prstGeom prst="roundRect">
            <a:avLst>
              <a:gd name="adj" fmla="val 10417"/>
            </a:avLst>
          </a:prstGeom>
          <a:solidFill>
            <a:srgbClr val="1B2130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343775" y="2543175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AED"/>
                </a:solidFill>
                <a:latin typeface="Microsoft YaHei"/>
                <a:ea typeface="Microsoft YaHei"/>
              </a:rPr>
              <a:t>知识</a:t>
            </a:r>
            <a:r>
              <a:rPr lang="en-US" sz="1200" b="1">
                <a:solidFill>
                  <a:srgbClr val="E8EAED"/>
                </a:solidFill>
                <a:latin typeface="Microsoft YaHei"/>
                <a:ea typeface="Microsoft YaHei"/>
              </a:rPr>
              <a:t> K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343775" y="2771775"/>
            <a:ext cx="3848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写库即构建：本体与向量随数据自生长，知识不用人工另建一套。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53525" y="3352800"/>
            <a:ext cx="228600" cy="2476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7191375" y="3600450"/>
            <a:ext cx="4152900" cy="914400"/>
          </a:xfrm>
          <a:prstGeom prst="roundRect">
            <a:avLst>
              <a:gd name="adj" fmla="val 10417"/>
            </a:avLst>
          </a:prstGeom>
          <a:solidFill>
            <a:srgbClr val="1B2130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343775" y="3705225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AED"/>
                </a:solidFill>
                <a:latin typeface="Microsoft YaHei"/>
                <a:ea typeface="Microsoft YaHei"/>
              </a:rPr>
              <a:t>记忆</a:t>
            </a:r>
            <a:r>
              <a:rPr lang="en-US" sz="1200" b="1">
                <a:solidFill>
                  <a:srgbClr val="E8EAED"/>
                </a:solidFill>
                <a:latin typeface="Microsoft YaHei"/>
                <a:ea typeface="Microsoft YaHei"/>
              </a:rPr>
              <a:t> M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343775" y="3933825"/>
            <a:ext cx="3848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双轨记忆：事件流留住过程，结论留住判断，随时可寻址、可溯源。</a:t>
            </a:r>
            <a:endParaRPr/>
          </a:p>
        </p:txBody>
      </p:sp>
      <p:pic>
        <p:nvPicPr>
          <p:cNvPr id="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53525" y="4514850"/>
            <a:ext cx="228600" cy="247650"/>
          </a:xfrm>
          <a:prstGeom prst="rect">
            <a:avLst/>
          </a:prstGeom>
          <a:ln/>
        </p:spPr>
      </p:pic>
      <p:sp>
        <p:nvSpPr>
          <p:cNvPr id="34" name=""/>
          <p:cNvSpPr/>
          <p:nvPr/>
        </p:nvSpPr>
        <p:spPr>
          <a:xfrm rot="0" flipH="0" flipV="0">
            <a:off x="7191375" y="4762500"/>
            <a:ext cx="4152900" cy="914400"/>
          </a:xfrm>
          <a:prstGeom prst="roundRect">
            <a:avLst>
              <a:gd name="adj" fmla="val 10417"/>
            </a:avLst>
          </a:prstGeom>
          <a:solidFill>
            <a:srgbClr val="1B2130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343775" y="4867275"/>
            <a:ext cx="3848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裁决</a:t>
            </a: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 D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343775" y="5095875"/>
            <a:ext cx="38481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证据齐备才放行：链末红线闸门把关，裁决带编号可回查、可复算。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7486650" y="5867400"/>
            <a:ext cx="3571875" cy="24765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60667C"/>
                </a:solidFill>
                <a:latin typeface="Microsoft YaHei"/>
                <a:ea typeface="Microsoft YaHei"/>
              </a:rPr>
              <a:t>顺序是契约第一等公民</a:t>
            </a:r>
            <a:r>
              <a:rPr lang="en-US" sz="1050">
                <a:solidFill>
                  <a:srgbClr val="60667C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60667C"/>
                </a:solidFill>
                <a:latin typeface="Microsoft YaHei"/>
                <a:ea typeface="Microsoft YaHei"/>
              </a:rPr>
              <a:t>不得以「性能优化」为由重排。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38175" y="647700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60667C"/>
                </a:solidFill>
                <a:latin typeface="Microsoft YaHei"/>
                <a:ea typeface="Microsoft YaHei"/>
              </a:rPr>
              <a:t>原生决策智能平台</a:t>
            </a: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134725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01 / 03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style={{&#13;&#10;    width: '1280px',&#13;&#10;    height: '720px',&#13;&#10;    background: '#0C0E14',&#13;&#10;    padding: '0px 67px',&#13;&#10;    fontFamily: 'Microsoft YaHei',&#13;&#10;    position: 'relative',&#13;&#10;    display: 'flex',&#13;&#10;    flexDirection: 'column',&#13;&#10;}}&gt;&#13;&#10;    &lt;Box style={{ position: 'absolute', top: -70, right: -50, width: 420, height: 420, borderRadius: '50%', background: '#22D3EE', opacity: 0.06 }} /&gt;&#13;&#10;&#13;&#10;    &lt;Box style={{ marginTop: 38, position: 'relative', zIndex: 1 }}&gt;&#13;&#10;        &lt;Text style={{ fontSize: 14, color: '#22D3EE', letterSpacing: 2 }}&gt;02 · 主要功能&lt;/Text&gt;&#13;&#10;    &lt;/Box&gt;&#13;&#10;    &lt;Box style={{ marginTop: 14, position: 'relative', zIndex: 1 }}&gt;&#13;&#10;        &lt;Text style={{ fontSize: 32, fontWeight: 'bold', color: '#E8EAED', lineHeight: 1.3 }}&gt;&#13;&#10;            五件把「判断过程」变成企业资产的事&#13;&#10;        &lt;/Text&gt;&#13;&#10;    &lt;/Box&gt;&#13;&#10;    &lt;Box style={{ marginTop: 12, position: 'relative', zIndex: 1 }}&gt;&#13;&#10;        &lt;Text style={{ fontSize: 16, color: '#A8AEBE', lineHeight: 1.5 }}&gt;&#13;&#10;            系统里过去只存「结果」，本平台把依据、上下文与复盘一并存下来 —— 于是判断可解释、可传承、可进化。&#13;&#10;        &lt;/Text&gt;&#13;&#10;    &lt;/Box&gt;&#13;&#10;    &lt;Box style={{ marginTop: 25, height: 1, width: '100%', background: '#2A3040', position: 'relative', zIndex: 1 }} /&gt;&#13;&#10;&#13;&#10;    &lt;Box style={{ marginTop: 20, height: 454, flexDirection: 'column', gap: 12, position: 'relative', zIndex: 1 }}&gt;&#13;&#10;&#13;&#10;        &lt;Box style={{ flexDirection: 'row', gap: 12, height: 200 }}&gt;&#13;&#10;            &lt;Box style={{&#13;&#10;                width: 374, background: '#141922', border: '1px solid #2A3040', borderRadius: 12,&#13;&#10;                padding: '14px 18px', justifyContent: 'space-between',&#13;&#10;            }}&gt;&#13;&#10;                &lt;Box style={{ gap: 8 }}&gt;&#13;&#10;                    &lt;Text style={{ fontSize: 19, fontWeight: 'bold', color: '#E8EAED' }}&gt;① 有依据的裁决&lt;/Text&gt;&#13;&#10;                    &lt;Text style={{ fontSize: 14, color: '#A8AEBE', lineHeight: 1.5 }}&gt;&#13;&#10;                        主链时序不可重排，链末是一道硬闸门：证据不齐就不放行，命中&lt;span style={{ color: '#FBBF24' }}&gt;红线&lt;/span&gt;转人工处置。&#13;&#10;                        置信度只认同一口径，缺依据就显式报缺，绝不用「听起来合理」蒙混过关。&#13;&#10;                        顺序不是实现细节 —— 先有证据、再有上下文，最后才有裁决。&#13;&#10;                    &lt;/Text&gt;&#13;&#10;                &lt;/Box&gt;&#13;&#10;                &lt;Text style={{ fontSize: 13, color: '#22D3EE' }}&gt;结果：每个裁决都能回查与复算&lt;/Text&gt;&#13;&#10;            &lt;/Box&gt;&#13;&#10;&#13;&#10;            &lt;Box style={{&#13;&#10;                width: 374, background: '#141922', border: '1px solid #2A3040', borderRadius: 12,&#13;&#10;                padding: '14px 18px', justifyContent: 'space-between',&#13;&#10;            }}&gt;&#13;&#10;                &lt;Box style={{ gap: 8 }}&gt;&#13;&#10;                    &lt;Text style={{ fontSize: 19, fontWeight: 'bold', color: '#E8EAED' }}&gt;② 记得住的上下文&lt;/Text&gt;&#13;&#10;                    &lt;Text style={{ fontSize: 14, color: '#A8AEBE', lineHeight: 1.5 }}&gt;&#13;&#10;                        事件流与结论双轨并存：过程只追加不改写，判断可沉淀可蒸馏。记忆可寻址、来源可溯源，&#13;&#10;                        业务时间与写入时间分开记，事后再现当时场景。&#13;&#10;                        缺项与「确实没有」被严格区分，完整性不达标就显式报缺，不静默补全。&#13;&#10;                    &lt;/Text&gt;&#13;&#10;                &lt;/Box&gt;&#13;&#10;                &lt;Text style={{ fontSize: 13, color: '#22D3EE' }}&gt;结果：换人不换记忆&lt;/Text&gt;&#13;&#10;            &lt;/Box&gt;&#13;&#10;&#13;&#10;            &lt;Box style={{&#13;&#10;                width: 374, background: '#141922', border: '1px solid #2A3040', borderRadius: 12,&#13;&#10;                padding: '14px 18px', justifyContent: 'space-between',&#13;&#10;            }}&gt;&#13;&#10;                &lt;Box style={{ gap: 8 }}&gt;&#13;&#10;                    &lt;Text style={{ fontSize: 19, fontWeight: 'bold', color: '#E8EAED' }}&gt;③ 一事实两视图&lt;/Text&gt;&#13;&#10;                    &lt;Text style={{ fontSize: 14, color: '#A8AEBE', lineHeight: 1.5 }}&gt;&#13;&#10;                        同一份事实，两种投影：图谱视图看关系、结构与因果；故事线视图看时序与证据演化。&#13;&#10;                        两视图同源，任何一条结论都能顺着视图回到它的证据，可交叉验证、可复算。&#13;&#10;                    &lt;/Text&gt;&#13;&#10;                &lt;/Box&gt;&#13;&#10;                &lt;Text style={{ fontSize: 13, color: '#22D3EE' }}&gt;结果：既看得见关系，也讲得清来龙去脉&lt;/Text&gt;&#13;&#10;            &lt;/Box&gt;&#13;&#10;        &lt;/Box&gt;&#13;&#10;&#13;&#10;        &lt;Box style={{ flexDirection: 'row', gap: 12, height: 200 }}&gt;&#13;&#10;            &lt;Box style={{&#13;&#10;                width: 566, background: '#1B2130', border: '1px solid #2A3040', borderRadius: 12,&#13;&#10;                padding: '14px 18px', justifyContent: 'space-between',&#13;&#10;            }}&gt;&#13;&#10;                &lt;Box style={{ gap: 8 }}&gt;&#13;&#10;                    &lt;Text style={{ fontSize: 19, fontWeight: 'bold', color: '#22D3EE' }}&gt;④ 越用越准：夜间自进化闭环&lt;/Text&gt;&#13;&#10;                    &lt;Text style={{ fontSize: 14, color: '#A8AEBE', lineHeight: 1.5 }}&gt;&#13;&#10;                        裁决落地 → 结果回流 → 复盘出方 → 影子重放 → 事务应用 → 次日报告与一键回滚。&#13;&#10;                        护栏先行：阈值放宽永不自动、红线命中挂起待人、基线能力目录只读 —— 自动的是执行，不是权力。&#13;&#10;                        同一处方只有一个动作，状态机保证不出现「配置已改、处方还挂着」的半应用态。&#13;&#10;                    &lt;/Text&gt;&#13;&#10;                &lt;/Box&gt;&#13;&#10;                &lt;Text style={{ fontSize: 13, color: '#22D3EE' }}&gt;结果：经验沉淀成参数，同样的坑不踩第二次&lt;/Text&gt;&#13;&#10;            &lt;/Box&gt;&#13;&#10;&#13;&#10;            &lt;Box style={{&#13;&#10;                width: 566, background: '#141922', border: '1px solid #2A3040', borderRadius: 12,&#13;&#10;                padding: '14px 18px', justifyContent: 'space-between',&#13;&#10;            }}&gt;&#13;&#10;                &lt;Box style={{ gap: 8 }}&gt;&#13;&#10;                    &lt;Text style={{ fontSize: 19, fontWeight: 'bold', color: '#E8EAED' }}&gt;⑤ 免代码生长：客户自己能长出新场景&lt;/Text&gt;&#13;&#10;                    &lt;Text style={{ fontSize: 14, color: '#A8AEBE', lineHeight: 1.5 }}&gt;&#13;&#10;                        自然语言 → 受控 Schema → 渲染器，门户只渲染受控结构，机器不直接产出页面代码；&#13;&#10;                        动作面按命名空间收敛，写操作分级守卫并留痕；每一次扩展都进审计链，可追责、可回滚。&#13;&#10;                    &lt;/Text&gt;&#13;&#10;                &lt;/Box&gt;&#13;&#10;                &lt;Text style={{ fontSize: 13, color: '#22D3EE' }}&gt;结果：买回去的能力会自己长大&lt;/Text&gt;&#13;&#10;            &lt;/Box&gt;&#13;&#10;        &lt;/Box&gt;&#13;&#10;&#13;&#10;        &lt;Box style={{&#13;&#10;            height: 30, background: '#141922', borderLeft: '3px solid #22D3EE', borderRadius: 6,&#13;&#10;            padding: '0px 16px', justifyContent: 'center',&#13;&#10;        }}&gt;&#13;&#10;            &lt;Text style={{ fontSize: 15, color: '#E8EAED' }}&gt;&#13;&#10;                内核零业务字面量 —— &lt;span style={{ color: '#22D3EE' }}&gt;换领域只换一份配置画像，不改内核一行代码&lt;/span&gt;&#13;&#10;            &lt;/Text&gt;&#13;&#10;        &lt;/Box&gt;&#13;&#10;    &lt;/Box&gt;&#13;&#10;&#13;&#10;    &lt;Box style={{ marginTop: 20, flexDirection: 'row', justifyContent: 'space-between', position: 'relative', zIndex: 1 }}&gt;&#13;&#10;        &lt;Text style={{ fontSize: 13, color: '#60667C' }}&gt;AI 原生决策智能平台 · 2026&lt;/Text&gt;&#13;&#10;        &lt;Text style={{ fontSize: 13, color: '#60667C' }}&gt;02 / 0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8667750" y="-666750"/>
            <a:ext cx="4000500" cy="4000500"/>
          </a:xfrm>
          <a:custGeom>
            <a:pathLst>
              <a:path w="420" h="420">
                <a:moveTo>
                  <a:pt x="210" y="0"/>
                </a:moveTo>
                <a:lnTo>
                  <a:pt x="210" y="0"/>
                </a:lnTo>
                <a:cubicBezTo>
                  <a:pt x="326" y="0"/>
                  <a:pt x="420" y="94"/>
                  <a:pt x="420" y="210"/>
                </a:cubicBezTo>
                <a:lnTo>
                  <a:pt x="420" y="210"/>
                </a:lnTo>
                <a:cubicBezTo>
                  <a:pt x="420" y="326"/>
                  <a:pt x="326" y="420"/>
                  <a:pt x="210" y="420"/>
                </a:cubicBezTo>
                <a:lnTo>
                  <a:pt x="210" y="420"/>
                </a:lnTo>
                <a:cubicBezTo>
                  <a:pt x="94" y="420"/>
                  <a:pt x="0" y="326"/>
                  <a:pt x="0" y="210"/>
                </a:cubicBezTo>
                <a:lnTo>
                  <a:pt x="0" y="210"/>
                </a:lnTo>
                <a:cubicBezTo>
                  <a:pt x="0" y="94"/>
                  <a:pt x="94" y="0"/>
                  <a:pt x="210" y="0"/>
                </a:cubicBezTo>
                <a:close/>
              </a:path>
            </a:pathLst>
          </a:custGeom>
          <a:solidFill>
            <a:srgbClr val="22D3EE">
              <a:alpha val="6000"/>
            </a:srgbClr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38175" y="361950"/>
            <a:ext cx="1091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2D3EE"/>
                </a:solidFill>
                <a:latin typeface="Microsoft YaHei"/>
                <a:ea typeface="Microsoft YaHei"/>
              </a:rPr>
              <a:t>02 · </a:t>
            </a:r>
            <a:r>
              <a:rPr lang="zh-CN" sz="1050" spc="150">
                <a:solidFill>
                  <a:srgbClr val="22D3EE"/>
                </a:solidFill>
                <a:latin typeface="Microsoft YaHei"/>
                <a:ea typeface="Microsoft YaHei"/>
              </a:rPr>
              <a:t>主要功能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38175" y="657225"/>
            <a:ext cx="1091565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E8EAED"/>
                </a:solidFill>
                <a:latin typeface="Microsoft YaHei"/>
                <a:ea typeface="Microsoft YaHei"/>
              </a:rPr>
              <a:t>五件把「判断过程」变成企业资产的事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38175" y="1247775"/>
            <a:ext cx="10915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A8AEBE"/>
                </a:solidFill>
                <a:latin typeface="Microsoft YaHei"/>
                <a:ea typeface="Microsoft YaHei"/>
              </a:rPr>
              <a:t>系统里过去只存「结果」，本平台把依据、上下文与复盘一并存下来</a:t>
            </a:r>
            <a:r>
              <a:rPr lang="en-US" sz="120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200">
                <a:solidFill>
                  <a:srgbClr val="A8AEBE"/>
                </a:solidFill>
                <a:latin typeface="Microsoft YaHei"/>
                <a:ea typeface="Microsoft YaHei"/>
              </a:rPr>
              <a:t>于是判断可解释、可传承、可进化。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38175" y="1762125"/>
            <a:ext cx="10915650" cy="9525"/>
          </a:xfrm>
          <a:prstGeom prst="rect">
            <a:avLst/>
          </a:prstGeom>
          <a:solidFill>
            <a:srgbClr val="2A3040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38175" y="1962150"/>
            <a:ext cx="3562350" cy="1914525"/>
          </a:xfrm>
          <a:prstGeom prst="roundRect">
            <a:avLst>
              <a:gd name="adj" fmla="val 5970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9625" y="2095500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EAED"/>
                </a:solidFill>
                <a:latin typeface="Microsoft YaHei"/>
                <a:ea typeface="Microsoft YaHei"/>
              </a:rPr>
              <a:t>① </a:t>
            </a:r>
            <a:r>
              <a:rPr lang="zh-CN" sz="1425" b="1">
                <a:solidFill>
                  <a:srgbClr val="E8EAED"/>
                </a:solidFill>
                <a:latin typeface="Microsoft YaHei"/>
                <a:ea typeface="Microsoft YaHei"/>
              </a:rPr>
              <a:t>有依据的裁决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09625" y="2390775"/>
            <a:ext cx="321945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主链时序不可重排，链末是一道硬闸门：证据不齐就不放行，命中</a:t>
            </a:r>
            <a:r>
              <a:rPr lang="zh-CN" sz="1050">
                <a:solidFill>
                  <a:srgbClr val="FBBF24"/>
                </a:solidFill>
                <a:latin typeface="Microsoft YaHei"/>
                <a:ea typeface="Microsoft YaHei"/>
              </a:rPr>
              <a:t>红线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转人工处置。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置信度只认同一口径，缺依据就显式报缺，绝不用「听起来合理」蒙混过关。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顺序不是实现细节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先有证据、再有上下文，最后才有裁决。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09625" y="3590925"/>
            <a:ext cx="3219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Microsoft YaHei"/>
                <a:ea typeface="Microsoft YaHei"/>
              </a:rPr>
              <a:t>结果：每个裁决都能回查与复算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314825" y="1962150"/>
            <a:ext cx="3562350" cy="1914525"/>
          </a:xfrm>
          <a:prstGeom prst="roundRect">
            <a:avLst>
              <a:gd name="adj" fmla="val 5970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4486275" y="2095500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EAED"/>
                </a:solidFill>
                <a:latin typeface="Microsoft YaHei"/>
                <a:ea typeface="Microsoft YaHei"/>
              </a:rPr>
              <a:t>② </a:t>
            </a:r>
            <a:r>
              <a:rPr lang="zh-CN" sz="1425" b="1">
                <a:solidFill>
                  <a:srgbClr val="E8EAED"/>
                </a:solidFill>
                <a:latin typeface="Microsoft YaHei"/>
                <a:ea typeface="Microsoft YaHei"/>
              </a:rPr>
              <a:t>记得住的上下文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486275" y="2390775"/>
            <a:ext cx="3219450" cy="1200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事件流与结论双轨并存：过程只追加不改写，判断可沉淀可蒸馏。记忆可寻址、来源可溯源，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业务时间与写入时间分开记，事后再现当时场景。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缺项与「确实没有」被严格区分，完整性不达标就显式报缺，不静默补全。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486275" y="3590925"/>
            <a:ext cx="3219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Microsoft YaHei"/>
                <a:ea typeface="Microsoft YaHei"/>
              </a:rPr>
              <a:t>结果：换人不换记忆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991475" y="1962150"/>
            <a:ext cx="3562350" cy="190500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162925" y="2095500"/>
            <a:ext cx="3219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EAED"/>
                </a:solidFill>
                <a:latin typeface="Microsoft YaHei"/>
                <a:ea typeface="Microsoft YaHei"/>
              </a:rPr>
              <a:t>③ </a:t>
            </a:r>
            <a:r>
              <a:rPr lang="zh-CN" sz="1425" b="1">
                <a:solidFill>
                  <a:srgbClr val="E8EAED"/>
                </a:solidFill>
                <a:latin typeface="Microsoft YaHei"/>
                <a:ea typeface="Microsoft YaHei"/>
              </a:rPr>
              <a:t>一事实两视图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162925" y="2390775"/>
            <a:ext cx="32194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同一份事实，两种投影：图谱视图看关系、结构与因果；故事线视图看时序与证据演化。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两视图同源，任何一条结论都能顺着视图回到它的证据，可交叉验证、可复算。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8162925" y="3581400"/>
            <a:ext cx="3219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Microsoft YaHei"/>
                <a:ea typeface="Microsoft YaHei"/>
              </a:rPr>
              <a:t>结果：既看得见关系，也讲得清来龙去脉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38175" y="3981450"/>
            <a:ext cx="5391150" cy="1905000"/>
          </a:xfrm>
          <a:prstGeom prst="roundRect">
            <a:avLst>
              <a:gd name="adj" fmla="val 6000"/>
            </a:avLst>
          </a:prstGeom>
          <a:solidFill>
            <a:srgbClr val="1B2130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09625" y="4114800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>④ </a:t>
            </a: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越用越准：夜间自进化闭环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09625" y="4410075"/>
            <a:ext cx="50482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裁决落地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结果回流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复盘出方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影子重放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事务应用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次日报告与一键回滚。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护栏先行：阈值放宽永不自动、红线命中挂起待人、基线能力目录只读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自动的是执行，不是权力。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同一处方只有一个动作，状态机保证不出现「配置已改、处方还挂着」的半应用态。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09625" y="5600700"/>
            <a:ext cx="504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Microsoft YaHei"/>
                <a:ea typeface="Microsoft YaHei"/>
              </a:rPr>
              <a:t>结果：经验沉淀成参数，同样的坑不踩第二次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143625" y="3981450"/>
            <a:ext cx="5391150" cy="1905000"/>
          </a:xfrm>
          <a:prstGeom prst="roundRect">
            <a:avLst>
              <a:gd name="adj" fmla="val 6000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315075" y="4114800"/>
            <a:ext cx="504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E8EAED"/>
                </a:solidFill>
                <a:latin typeface="Microsoft YaHei"/>
                <a:ea typeface="Microsoft YaHei"/>
              </a:rPr>
              <a:t>⑤ </a:t>
            </a:r>
            <a:r>
              <a:rPr lang="zh-CN" sz="1425" b="1">
                <a:solidFill>
                  <a:srgbClr val="E8EAED"/>
                </a:solidFill>
                <a:latin typeface="Microsoft YaHei"/>
                <a:ea typeface="Microsoft YaHei"/>
              </a:rPr>
              <a:t>免代码生长：客户自己能长出新场景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315075" y="4410075"/>
            <a:ext cx="50482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自然语言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受控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Schema →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渲染器，门户只渲染受控结构，机器不直接产出页面代码；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动作面按命名空间收敛，写操作分级守卫并留痕；每一次扩展都进审计链，可追责、可回滚。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315075" y="5600700"/>
            <a:ext cx="504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Microsoft YaHei"/>
                <a:ea typeface="Microsoft YaHei"/>
              </a:rPr>
              <a:t>结果：买回去的能力会自己长大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66750" y="6000750"/>
            <a:ext cx="10915650" cy="285750"/>
          </a:xfrm>
          <a:prstGeom prst="roundRect">
            <a:avLst>
              <a:gd name="adj" fmla="val 20000"/>
            </a:avLst>
          </a:prstGeom>
          <a:solidFill>
            <a:srgbClr val="141922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666750" y="6000750"/>
            <a:ext cx="10915650" cy="285750"/>
          </a:xfrm>
          <a:custGeom>
            <a:pathLst>
              <a:path w="1146" h="30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27"/>
                </a:lnTo>
                <a:cubicBezTo>
                  <a:pt x="3" y="28"/>
                  <a:pt x="4" y="30"/>
                  <a:pt x="5" y="30"/>
                </a:cubicBezTo>
                <a:cubicBezTo>
                  <a:pt x="2" y="30"/>
                  <a:pt x="0" y="27"/>
                  <a:pt x="0" y="2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19150" y="6057900"/>
            <a:ext cx="1058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AED"/>
                </a:solidFill>
                <a:latin typeface="Microsoft YaHei"/>
                <a:ea typeface="Microsoft YaHei"/>
              </a:rPr>
              <a:t>内核零业务字面量</a:t>
            </a:r>
            <a:r>
              <a:rPr lang="en-US" sz="1125">
                <a:solidFill>
                  <a:srgbClr val="E8EAED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22D3EE"/>
                </a:solidFill>
                <a:latin typeface="Microsoft YaHei"/>
                <a:ea typeface="Microsoft YaHei"/>
              </a:rPr>
              <a:t>换领域只换一份配置画像，不改内核一行代码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38175" y="647700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60667C"/>
                </a:solidFill>
                <a:latin typeface="Microsoft YaHei"/>
                <a:ea typeface="Microsoft YaHei"/>
              </a:rPr>
              <a:t>原生决策智能平台</a:t>
            </a: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1134725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02 / 03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72" name="" descr="&lt;Slide style={{&#13;&#10;    width: '1280px',&#13;&#10;    height: '720px',&#13;&#10;    background: '#0C0E14',&#13;&#10;    padding: '0px 67px',&#13;&#10;    fontFamily: 'Microsoft YaHei',&#13;&#10;    position: 'relative',&#13;&#10;    display: 'flex',&#13;&#10;    flexDirection: 'column',&#13;&#10;}}&gt;&#13;&#10;    &lt;Box style={{ position: 'absolute', top: -70, right: -50, width: 420, height: 420, borderRadius: '50%', background: '#22D3EE', opacity: 0.06 }} /&gt;&#13;&#10;&#13;&#10;    &lt;Box style={{ marginTop: 38, position: 'relative', zIndex: 1 }}&gt;&#13;&#10;        &lt;Text style={{ fontSize: 14, color: '#22D3EE', letterSpacing: 2 }}&gt;03 · 与原有系统 / 新增场景的关系&lt;/Text&gt;&#13;&#10;    &lt;/Box&gt;&#13;&#10;    &lt;Box style={{ marginTop: 14, position: 'relative', zIndex: 1 }}&gt;&#13;&#10;        &lt;Text style={{ fontSize: 32, fontWeight: 'bold', color: '#E8EAED', lineHeight: 1.3 }}&gt;&#13;&#10;            不是替换原有系统，而是把「判断」这一层抽出来共用&#13;&#10;        &lt;/Text&gt;&#13;&#10;    &lt;/Box&gt;&#13;&#10;    &lt;Box style={{ marginTop: 12, position: 'relative', zIndex: 1 }}&gt;&#13;&#10;        &lt;Text style={{ fontSize: 16, color: '#A8AEBE', lineHeight: 1.5 }}&gt;&#13;&#10;            各域系统继续管自己的业务；决策内核只建一次，之后每个新场景都靠一份配置画像接入。&#13;&#10;        &lt;/Text&gt;&#13;&#10;    &lt;/Box&gt;&#13;&#10;    &lt;Box style={{ marginTop: 25, height: 1, width: '100%', background: '#2A3040', position: 'relative', zIndex: 1 }} /&gt;&#13;&#10;&#13;&#10;    &lt;Box style={{ marginTop: 20, height: 454, flexDirection: 'column', gap: 14, position: 'relative', zIndex: 1 }}&gt;&#13;&#10;&#13;&#10;        &lt;Box style={{ flexDirection: 'row', alignItems: 'center', gap: 20, height: 300 }}&gt;&#13;&#10;            &lt;Box style={{&#13;&#10;                width: 342, height: 300, background: '#141922', border: '1px solid #2A3040', borderRadius: 12,&#13;&#10;                padding: '20px 20px', justifyContent: 'space-between',&#13;&#10;            }}&gt;&#13;&#10;                &lt;Box style={{ gap: 10 }}&gt;&#13;&#10;                    &lt;Text style={{ fontSize: 15, color: '#60667C', letterSpacing: 1 }}&gt;FROM&lt;/Text&gt;&#13;&#10;                    &lt;Text style={{ fontSize: 20, fontWeight: 'bold', color: '#E8EAED', lineHeight: 1.35 }}&gt;原有系统&lt;br /&gt;各域自建&lt;/Text&gt;&#13;&#10;                    &lt;Text style={{ fontSize: 14, color: '#A8AEBE', lineHeight: 1.55 }}&gt;&#13;&#10;                        销售、研发、供应链各有一套系统，数据与业务语义都在里面；但经验与判断过程留在人脑里，&#13;&#10;                        换一个域就要重做一遍，前面攒下的能力无法复用。&#13;&#10;                    &lt;/Text&gt;&#13;&#10;                &lt;/Box&gt;&#13;&#10;                &lt;Text style={{ fontSize: 13, color: '#A8AEBE' }}&gt;存了结果，没存判断&lt;/Text&gt;&#13;&#10;            &lt;/Box&gt;&#13;&#10;&#13;&#10;            &lt;svg width={40} height={24} viewBox='0 0 40 24'&gt;&#13;&#10;                &lt;path d='M0 12 L28 12' stroke='#22D3EE' strokeWidth='2' fill='none' /&gt;&#13;&#10;                &lt;polygon points='28,6 28,18 40,12' fill='#22D3EE' /&gt;&#13;&#10;            &lt;/svg&gt;&#13;&#10;&#13;&#10;            &lt;Box style={{&#13;&#10;                width: 342, height: 300, background: '#1B2130', border: '1px solid #22D3EE', borderRadius: 12,&#13;&#10;                padding: '20px 20px', justifyContent: 'space-between',&#13;&#10;            }}&gt;&#13;&#10;                &lt;Box style={{ gap: 10 }}&gt;&#13;&#10;                    &lt;Text style={{ fontSize: 15, color: '#22D3EE', letterSpacing: 1 }}&gt;CORE&lt;/Text&gt;&#13;&#10;                    &lt;Text style={{ fontSize: 20, fontWeight: 'bold', color: '#22D3EE', lineHeight: 1.35 }}&gt;抽取公共&lt;br /&gt;决策内核&lt;/Text&gt;&#13;&#10;                    &lt;Text style={{ fontSize: 14, color: '#A8AEBE', lineHeight: 1.55 }}&gt;&#13;&#10;                        裁决主链、双轨记忆、粒子契约、事件总线、审计链 —— 不是从零设计，&#13;&#10;                        而是从真实项目里跑通的实证中抽出来，之后反哺到每个业务域。&#13;&#10;                        内核里不出现任何业务字面量，领域取值全部由配置画像注入。&#13;&#10;                    &lt;/Text&gt;&#13;&#10;                &lt;/Box&gt;&#13;&#10;                &lt;Text style={{ fontSize: 13, color: '#22D3EE' }}&gt;内核零业务字面量&lt;/Text&gt;&#13;&#10;            &lt;/Box&gt;&#13;&#10;&#13;&#10;            &lt;svg width={40} height={24} viewBox='0 0 40 24'&gt;&#13;&#10;                &lt;path d='M0 12 L28 12' stroke='#22D3EE' strokeWidth='2' fill='none' /&gt;&#13;&#10;                &lt;polygon points='28,6 28,18 40,12' fill='#22D3EE' /&gt;&#13;&#10;            &lt;/svg&gt;&#13;&#10;&#13;&#10;            &lt;Box style={{&#13;&#10;                width: 342, height: 300, background: '#141922', border: '1px solid #2A3040', borderRadius: 12,&#13;&#10;                padding: '20px 20px', justifyContent: 'space-between',&#13;&#10;            }}&gt;&#13;&#10;                &lt;Box style={{ gap: 10 }}&gt;&#13;&#10;                    &lt;Text style={{ fontSize: 15, color: '#60667C', letterSpacing: 1 }}&gt;TO&lt;/Text&gt;&#13;&#10;                    &lt;Text style={{ fontSize: 20, fontWeight: 'bold', color: '#E8EAED', lineHeight: 1.35 }}&gt;新增场景&lt;br /&gt;零内核改动&lt;/Text&gt;&#13;&#10;                    &lt;Text style={{ fontSize: 14, color: '#A8AEBE', lineHeight: 1.55 }}&gt;&#13;&#10;                        进入新行业、新业务域：只要一份配置画像 —— 领域取值、红线目录、评分口径。&#13;&#10;                        装上车就能跑，不改内核一行代码；扩展不用停机改造，也不用另起一套系统。&#13;&#10;                    &lt;/Text&gt;&#13;&#10;                &lt;/Box&gt;&#13;&#10;                &lt;Text style={{ fontSize: 13, color: '#A8AEBE' }}&gt;换配置，不换内核&lt;/Text&gt;&#13;&#10;            &lt;/Box&gt;&#13;&#10;        &lt;/Box&gt;&#13;&#10;&#13;&#10;        &lt;Box style={{ flexDirection: 'column', gap: 7 }}&gt;&#13;&#10;            &lt;Box style={{&#13;&#10;                height: 42, flexDirection: 'row', alignItems: 'center', gap: 18,&#13;&#10;                background: '#141922', border: '1px solid #2A3040', borderRadius: 8, padding: '0px 18px',&#13;&#10;            }}&gt;&#13;&#10;                &lt;Text style={{ fontSize: 16, fontWeight: 'bold', color: '#22D3EE', width: 150 }}&gt;① 不替换&lt;/Text&gt;&#13;&#10;                &lt;Text style={{ fontSize: 14, color: '#A8AEBE', lineHeight: 1.5 }}&gt;&#13;&#10;                    原系统继续承载业务语义与数据，平台只接管「判断过程」这一层 —— 存量投资不被推翻。&#13;&#10;                &lt;/Text&gt;&#13;&#10;            &lt;/Box&gt;&#13;&#10;            &lt;Box style={{&#13;&#10;                height: 42, flexDirection: 'row', alignItems: 'center', gap: 18,&#13;&#10;                background: '#141922', border: '1px solid #2A3040', borderRadius: 8, padding: '0px 18px',&#13;&#10;            }}&gt;&#13;&#10;                &lt;Text style={{ fontSize: 16, fontWeight: 'bold', color: '#22D3EE', width: 150 }}&gt;② 抽取并反哺&lt;/Text&gt;&#13;&#10;                &lt;Text style={{ fontSize: 14, color: '#A8AEBE', lineHeight: 1.5 }}&gt;&#13;&#10;                    内核来自真实项目的实证沉淀，抽取之后再反哺各系统 —— 越用越准的能力回到每个域里。&#13;&#10;                &lt;/Text&gt;&#13;&#10;            &lt;/Box&gt;&#13;&#10;            &lt;Box style={{&#13;&#10;                height: 42, flexDirection: 'row', alignItems: 'center', gap: 18,&#13;&#10;                background: '#141922', border: '1px solid #2A3040', borderRadius: 8, padding: '0px 18px',&#13;&#10;            }}&gt;&#13;&#10;                &lt;Text style={{ fontSize: 16, fontWeight: 'bold', color: '#22D3EE', width: 150 }}&gt;③ 平台自己也长&lt;/Text&gt;&#13;&#10;                &lt;Text style={{ fontSize: 14, color: '#A8AEBE', lineHeight: 1.5 }}&gt;&#13;&#10;                    新增智能体、沉淀技能、夜间自调参 —— 自动的是执行，不是权力：阈值放宽永不自动，红线命中挂起待人。&#13;&#10;                &lt;/Text&gt;&#13;&#10;            &lt;/Box&gt;&#13;&#10;        &lt;/Box&gt;&#13;&#10;    &lt;/Box&gt;&#13;&#10;&#13;&#10;    &lt;Box style={{ marginTop: 20, flexDirection: 'row', justifyContent: 'space-between', position: 'relative', zIndex: 1 }}&gt;&#13;&#10;        &lt;Text style={{ fontSize: 13, color: '#60667C' }}&gt;AI 原生决策智能平台 · 2026&lt;/Text&gt;&#13;&#10;        &lt;Text style={{ fontSize: 13, color: '#60667C' }}&gt;03 / 03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C0E14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8667750" y="-666750"/>
            <a:ext cx="4000500" cy="4000500"/>
          </a:xfrm>
          <a:custGeom>
            <a:pathLst>
              <a:path w="420" h="420">
                <a:moveTo>
                  <a:pt x="210" y="0"/>
                </a:moveTo>
                <a:lnTo>
                  <a:pt x="210" y="0"/>
                </a:lnTo>
                <a:cubicBezTo>
                  <a:pt x="326" y="0"/>
                  <a:pt x="420" y="94"/>
                  <a:pt x="420" y="210"/>
                </a:cubicBezTo>
                <a:lnTo>
                  <a:pt x="420" y="210"/>
                </a:lnTo>
                <a:cubicBezTo>
                  <a:pt x="420" y="326"/>
                  <a:pt x="326" y="420"/>
                  <a:pt x="210" y="420"/>
                </a:cubicBezTo>
                <a:lnTo>
                  <a:pt x="210" y="420"/>
                </a:lnTo>
                <a:cubicBezTo>
                  <a:pt x="94" y="420"/>
                  <a:pt x="0" y="326"/>
                  <a:pt x="0" y="210"/>
                </a:cubicBezTo>
                <a:lnTo>
                  <a:pt x="0" y="210"/>
                </a:lnTo>
                <a:cubicBezTo>
                  <a:pt x="0" y="94"/>
                  <a:pt x="94" y="0"/>
                  <a:pt x="210" y="0"/>
                </a:cubicBezTo>
                <a:close/>
              </a:path>
            </a:pathLst>
          </a:custGeom>
          <a:solidFill>
            <a:srgbClr val="22D3EE">
              <a:alpha val="6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38175" y="361950"/>
            <a:ext cx="1091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2D3EE"/>
                </a:solidFill>
                <a:latin typeface="Microsoft YaHei"/>
                <a:ea typeface="Microsoft YaHei"/>
              </a:rPr>
              <a:t>03 · </a:t>
            </a:r>
            <a:r>
              <a:rPr lang="zh-CN" sz="1050" spc="150">
                <a:solidFill>
                  <a:srgbClr val="22D3EE"/>
                </a:solidFill>
                <a:latin typeface="Microsoft YaHei"/>
                <a:ea typeface="Microsoft YaHei"/>
              </a:rPr>
              <a:t>与原有系统</a:t>
            </a:r>
            <a:r>
              <a:rPr lang="en-US" sz="1050" spc="150">
                <a:solidFill>
                  <a:srgbClr val="22D3EE"/>
                </a:solidFill>
                <a:latin typeface="Microsoft YaHei"/>
                <a:ea typeface="Microsoft YaHei"/>
              </a:rPr>
              <a:t> / </a:t>
            </a:r>
            <a:r>
              <a:rPr lang="zh-CN" sz="1050" spc="150">
                <a:solidFill>
                  <a:srgbClr val="22D3EE"/>
                </a:solidFill>
                <a:latin typeface="Microsoft YaHei"/>
                <a:ea typeface="Microsoft YaHei"/>
              </a:rPr>
              <a:t>新增场景的关系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38175" y="657225"/>
            <a:ext cx="1091565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E8EAED"/>
                </a:solidFill>
                <a:latin typeface="Microsoft YaHei"/>
                <a:ea typeface="Microsoft YaHei"/>
              </a:rPr>
              <a:t>不是替换原有系统，而是把「判断」这一层抽出来共用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38175" y="1247775"/>
            <a:ext cx="109156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A8AEBE"/>
                </a:solidFill>
                <a:latin typeface="Microsoft YaHei"/>
                <a:ea typeface="Microsoft YaHei"/>
              </a:rPr>
              <a:t>各域系统继续管自己的业务；决策内核只建一次，之后每个新场景都靠一份配置画像接入。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38175" y="1762125"/>
            <a:ext cx="10915650" cy="9525"/>
          </a:xfrm>
          <a:prstGeom prst="rect">
            <a:avLst/>
          </a:prstGeom>
          <a:solidFill>
            <a:srgbClr val="2A3040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638175" y="1962150"/>
            <a:ext cx="3257550" cy="28575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28675" y="2152650"/>
            <a:ext cx="2876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60667C"/>
                </a:solidFill>
                <a:latin typeface="Microsoft YaHei"/>
                <a:ea typeface="Microsoft YaHei"/>
              </a:rPr>
              <a:t>FROM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28675" y="2419350"/>
            <a:ext cx="2876550" cy="619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E8EAED"/>
                </a:solidFill>
                <a:latin typeface="Microsoft YaHei"/>
                <a:ea typeface="Microsoft YaHei"/>
              </a:rPr>
              <a:t>原有系统</a:t>
            </a:r>
            <a:endParaRPr/>
          </a:p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E8EAED"/>
                </a:solidFill>
                <a:latin typeface="Microsoft YaHei"/>
                <a:ea typeface="Microsoft YaHei"/>
              </a:rPr>
              <a:t>各域自建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28675" y="3133725"/>
            <a:ext cx="287655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销售、研发、供应链各有一套系统，数据与业务语义都在里面；但经验与判断过程留在人脑里，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换一个域就要重做一遍，前面攒下的能力无法复用。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28675" y="4476750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8AEBE"/>
                </a:solidFill>
                <a:latin typeface="Microsoft YaHei"/>
                <a:ea typeface="Microsoft YaHei"/>
              </a:rPr>
              <a:t>存了结果，没存判断</a:t>
            </a:r>
            <a:endParaRPr/>
          </a:p>
        </p:txBody>
      </p:sp>
      <p:pic>
        <p:nvPicPr>
          <p:cNvPr id="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71925" y="3276600"/>
            <a:ext cx="381000" cy="228600"/>
          </a:xfrm>
          <a:prstGeom prst="rect">
            <a:avLst/>
          </a:prstGeom>
          <a:ln/>
        </p:spPr>
      </p:pic>
      <p:sp>
        <p:nvSpPr>
          <p:cNvPr id="85" name=""/>
          <p:cNvSpPr/>
          <p:nvPr/>
        </p:nvSpPr>
        <p:spPr>
          <a:xfrm rot="0" flipH="0" flipV="0">
            <a:off x="4524375" y="1962150"/>
            <a:ext cx="3257550" cy="2857500"/>
          </a:xfrm>
          <a:prstGeom prst="roundRect">
            <a:avLst>
              <a:gd name="adj" fmla="val 4000"/>
            </a:avLst>
          </a:prstGeom>
          <a:solidFill>
            <a:srgbClr val="1B2130"/>
          </a:solidFill>
          <a:ln w="12700">
            <a:solidFill>
              <a:srgbClr val="22D3EE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714875" y="2152650"/>
            <a:ext cx="2876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22D3EE"/>
                </a:solidFill>
                <a:latin typeface="Microsoft YaHei"/>
                <a:ea typeface="Microsoft YaHei"/>
              </a:rPr>
              <a:t>CORE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714875" y="2419350"/>
            <a:ext cx="2876550" cy="619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22D3EE"/>
                </a:solidFill>
                <a:latin typeface="Microsoft YaHei"/>
                <a:ea typeface="Microsoft YaHei"/>
              </a:rPr>
              <a:t>抽取公共</a:t>
            </a:r>
            <a:endParaRPr/>
          </a:p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22D3EE"/>
                </a:solidFill>
                <a:latin typeface="Microsoft YaHei"/>
                <a:ea typeface="Microsoft YaHei"/>
              </a:rPr>
              <a:t>决策内核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714875" y="3133725"/>
            <a:ext cx="287655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裁决主链、双轨记忆、粒子契约、事件总线、审计链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不是从零设计，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而是从真实项目里跑通的实证中抽出来，之后反哺到每个业务域。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内核里不出现任何业务字面量，领域取值全部由配置画像注入。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714875" y="4476750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Microsoft YaHei"/>
                <a:ea typeface="Microsoft YaHei"/>
              </a:rPr>
              <a:t>内核零业务字面量</a:t>
            </a:r>
            <a:endParaRPr/>
          </a:p>
        </p:txBody>
      </p:sp>
      <p:pic>
        <p:nvPicPr>
          <p:cNvPr id="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58125" y="3276600"/>
            <a:ext cx="381000" cy="228600"/>
          </a:xfrm>
          <a:prstGeom prst="rect">
            <a:avLst/>
          </a:prstGeom>
          <a:ln/>
        </p:spPr>
      </p:pic>
      <p:sp>
        <p:nvSpPr>
          <p:cNvPr id="91" name=""/>
          <p:cNvSpPr/>
          <p:nvPr/>
        </p:nvSpPr>
        <p:spPr>
          <a:xfrm rot="0" flipH="0" flipV="0">
            <a:off x="8410575" y="1962150"/>
            <a:ext cx="3257550" cy="28575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601075" y="2152650"/>
            <a:ext cx="2876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60667C"/>
                </a:solidFill>
                <a:latin typeface="Microsoft YaHei"/>
                <a:ea typeface="Microsoft YaHei"/>
              </a:rPr>
              <a:t>TO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601075" y="2419350"/>
            <a:ext cx="2876550" cy="6191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E8EAED"/>
                </a:solidFill>
                <a:latin typeface="Microsoft YaHei"/>
                <a:ea typeface="Microsoft YaHei"/>
              </a:rPr>
              <a:t>新增场景</a:t>
            </a:r>
            <a:endParaRPr/>
          </a:p>
          <a:p>
            <a:pPr>
              <a:lnSpc>
                <a:spcPct val="135000"/>
              </a:lnSpc>
            </a:pPr>
            <a:r>
              <a:rPr lang="zh-CN" sz="1500" b="1">
                <a:solidFill>
                  <a:srgbClr val="E8EAED"/>
                </a:solidFill>
                <a:latin typeface="Microsoft YaHei"/>
                <a:ea typeface="Microsoft YaHei"/>
              </a:rPr>
              <a:t>零内核改动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601075" y="3133725"/>
            <a:ext cx="2876550" cy="1000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进入新行业、新业务域：只要一份配置画像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领域取值、红线目录、评分口径。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装上车就能跑，不改内核一行代码；扩展不用停机改造，也不用另起一套系统。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601075" y="4476750"/>
            <a:ext cx="2876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A8AEBE"/>
                </a:solidFill>
                <a:latin typeface="Microsoft YaHei"/>
                <a:ea typeface="Microsoft YaHei"/>
              </a:rPr>
              <a:t>换配置，不换内核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38175" y="4953000"/>
            <a:ext cx="10915650" cy="400050"/>
          </a:xfrm>
          <a:prstGeom prst="roundRect">
            <a:avLst>
              <a:gd name="adj" fmla="val 19048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09625" y="505777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① </a:t>
            </a: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不替换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409825" y="5029200"/>
            <a:ext cx="54387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原系统继续承载业务语义与数据，平台只接管「判断过程」这一层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存量投资不被推翻。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638175" y="5419725"/>
            <a:ext cx="10915650" cy="400050"/>
          </a:xfrm>
          <a:prstGeom prst="roundRect">
            <a:avLst>
              <a:gd name="adj" fmla="val 19048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09625" y="5524500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② </a:t>
            </a: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抽取并反哺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409825" y="5495925"/>
            <a:ext cx="54387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内核来自真实项目的实证沉淀，抽取之后再反哺各系统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越用越准的能力回到每个域里。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38175" y="5886450"/>
            <a:ext cx="10915650" cy="400050"/>
          </a:xfrm>
          <a:prstGeom prst="roundRect">
            <a:avLst>
              <a:gd name="adj" fmla="val 19048"/>
            </a:avLst>
          </a:prstGeom>
          <a:solidFill>
            <a:srgbClr val="141922"/>
          </a:solidFill>
          <a:ln w="12700">
            <a:solidFill>
              <a:srgbClr val="2A3040"/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09625" y="5991225"/>
            <a:ext cx="1428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2D3EE"/>
                </a:solidFill>
                <a:latin typeface="Microsoft YaHei"/>
                <a:ea typeface="Microsoft YaHei"/>
              </a:rPr>
              <a:t>③ </a:t>
            </a:r>
            <a:r>
              <a:rPr lang="zh-CN" sz="1200" b="1">
                <a:solidFill>
                  <a:srgbClr val="22D3EE"/>
                </a:solidFill>
                <a:latin typeface="Microsoft YaHei"/>
                <a:ea typeface="Microsoft YaHei"/>
              </a:rPr>
              <a:t>平台自己也长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2409825" y="5962650"/>
            <a:ext cx="65055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新增智能体、沉淀技能、夜间自调参</a:t>
            </a:r>
            <a:r>
              <a:rPr lang="en-US" sz="1050">
                <a:solidFill>
                  <a:srgbClr val="A8AEBE"/>
                </a:solidFill>
                <a:latin typeface="Microsoft YaHei"/>
                <a:ea typeface="Microsoft YaHei"/>
              </a:rPr>
              <a:t> —— </a:t>
            </a:r>
            <a:r>
              <a:rPr lang="zh-CN" sz="1050">
                <a:solidFill>
                  <a:srgbClr val="A8AEBE"/>
                </a:solidFill>
                <a:latin typeface="Microsoft YaHei"/>
                <a:ea typeface="Microsoft YaHei"/>
              </a:rPr>
              <a:t>自动的是执行，不是权力：阈值放宽永不自动，红线命中挂起待人。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38175" y="647700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60667C"/>
                </a:solidFill>
                <a:latin typeface="Microsoft YaHei"/>
                <a:ea typeface="Microsoft YaHei"/>
              </a:rPr>
              <a:t>原生决策智能平台</a:t>
            </a: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 · 2026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134725" y="64770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0667C"/>
                </a:solidFill>
                <a:latin typeface="Microsoft YaHei"/>
                <a:ea typeface="Microsoft YaHei"/>
              </a:rPr>
              <a:t>03 / 03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2026-09-22T08:39:01Z</dcterms:created>
  <dcterms:modified xsi:type="dcterms:W3CDTF">2026-09-22T08:39:01Z</dcterms:modified>
</cp:coreProperties>
</file>